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deepak Kancharla" userId="02aa0ccf34d5e8ee" providerId="LiveId" clId="{BDF72AC7-DCAB-458A-8257-6126B8AFC196}"/>
    <pc:docChg chg="custSel modSld">
      <pc:chgData name="Jayadeepak Kancharla" userId="02aa0ccf34d5e8ee" providerId="LiveId" clId="{BDF72AC7-DCAB-458A-8257-6126B8AFC196}" dt="2026-10-04T08:19:27.115" v="1" actId="478"/>
      <pc:docMkLst>
        <pc:docMk/>
      </pc:docMkLst>
      <pc:sldChg chg="delSp modSp mod">
        <pc:chgData name="Jayadeepak Kancharla" userId="02aa0ccf34d5e8ee" providerId="LiveId" clId="{BDF72AC7-DCAB-458A-8257-6126B8AFC196}" dt="2026-10-04T08:19:27.115" v="1" actId="478"/>
        <pc:sldMkLst>
          <pc:docMk/>
          <pc:sldMk cId="0" sldId="256"/>
        </pc:sldMkLst>
        <pc:spChg chg="del mod">
          <ac:chgData name="Jayadeepak Kancharla" userId="02aa0ccf34d5e8ee" providerId="LiveId" clId="{BDF72AC7-DCAB-458A-8257-6126B8AFC196}" dt="2026-10-04T08:19:27.115" v="1" actId="478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9E0B"/>
                </a:solidFill>
              </a:rPr>
              <a:t>BAMS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</a:rPr>
              <a:t>Java 17  ·  Spring Boot 3  ·  Oracle XE  ·  HTML / CSS / Vanilla JS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Presented: October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📋  Table of Contents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69848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51560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Project Overview &amp; Objectives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335024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1316736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316736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600200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1581912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1581912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1865376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" y="1847088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847088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Database Design — Oracle XE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2130552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" y="2112264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112264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Backend — Spring Boot Structure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2395728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" y="2377440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377440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Security &amp; Role-Based Access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660904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2642616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2642616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Login Page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2926080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2907792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2907792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Admin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191256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8600" y="3172968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3172968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Customers &amp; Accounts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456432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28600" y="3438144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438144"/>
            <a:ext cx="530352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Transactions Module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069848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1051560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1051560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Loans &amp; Loan Payments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1335024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1316736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1316736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Cards, Beneficiaries &amp; Calendar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1600200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1581912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1581912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Reports &amp; Audit Logs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1865376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1847088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12280" y="1847088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Settings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2130552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2112264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2280" y="2112264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 Self-Service Portal (New Feature)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2395728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2377440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2377440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Screenshot — Customer Portal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0" y="2660904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0" y="2642616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12280" y="2642616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Backend → Frontend Integration Flow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0" y="2926080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0" y="2907792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2907792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Build &amp; Deployment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0" y="3191256"/>
            <a:ext cx="347472" cy="2011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00800" y="3172968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3172968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Feature Highlights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3456432"/>
            <a:ext cx="347472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00800" y="3438144"/>
            <a:ext cx="347472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12280" y="3438144"/>
            <a:ext cx="512064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🏦  Project Overview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051560"/>
            <a:ext cx="4572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1051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0642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BAMS is a complete, production-grade Core Banking System built entirely offline.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1709928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8600" y="17099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6479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Manages: Customers, Accounts, Transactions, Loans, Cards, Employees, Branches.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368296"/>
            <a:ext cx="4572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23682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42316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4-role access: ADMIN · MANAGER · STAFF · CUSTOMER (self-service portal).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026664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8600" y="30266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0815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15 REST API controllers backed by Oracle XE with JDBC (no JPA/Hibernate).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3685032"/>
            <a:ext cx="4572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" y="3685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7398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14 frontend SPA modules — no frameworks, no CDN, fully offline.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343400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2860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98264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Atomic financial transactions with pessimistic locking &amp; audit trails.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5001768"/>
            <a:ext cx="4572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5001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05663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Filtered transaction reports with CSV export &amp; formula-injection guard.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5660136"/>
            <a:ext cx="4572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8600" y="56601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Banking calendar for events, loan due dates &amp; employee schedules.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⚙️  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51560"/>
            <a:ext cx="13716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10515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37360" y="1051560"/>
            <a:ext cx="32004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37360" y="1051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Component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051560"/>
            <a:ext cx="320040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0640" y="1051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Component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051560"/>
            <a:ext cx="3840480" cy="3200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105156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Component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371600"/>
            <a:ext cx="11795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" y="14630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14630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Java 17 (Eclipse Adoptium JDK)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14630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Spring Boot 3.2.5 + Spring Security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463040"/>
            <a:ext cx="3794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Spring JDBC + HikariCP connection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103120"/>
            <a:ext cx="11795760" cy="685800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8600" y="219456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219456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Oracle Database 10g XE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19456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JDBC with ROWNUM pagination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194560"/>
            <a:ext cx="3794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Sequences + Triggers for auto-increment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834640"/>
            <a:ext cx="11795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" y="292608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9260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Pure HTML5 + CSS3 + Vanilla JS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292608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Hash-based SPA routing (no framework)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926080"/>
            <a:ext cx="3794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14 dynamic module loaders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" y="3566160"/>
            <a:ext cx="11795760" cy="685800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8600" y="36576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36576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BCrypt strength 12 (password hash)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65760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CSRF protection + Session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3657600"/>
            <a:ext cx="3794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Row-level data isolation for CUSTOMER role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4297680"/>
            <a:ext cx="1179576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28600" y="438912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Build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83080" y="43891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Apache Maven 3.9.9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438912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maven-resources-plugin (frontend sync)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49640" y="4389120"/>
            <a:ext cx="3794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Single fat JAR output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2880" y="5029200"/>
            <a:ext cx="11795760" cy="685800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8600" y="512064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Tools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83080" y="51206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Oracle SQL*Plus for DB admin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66360" y="5120640"/>
            <a:ext cx="3154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Microsoft Edge for frontend testing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5120640"/>
            <a:ext cx="37947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Offline — no CDN dependencies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🏗️  3-Tier 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11247120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🖥️  PRESENTATION LAYER (Frontend)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356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Pure HTML5 + CSS3 + Vanilla JavaScript  •  14 SPA Modules  •  Hash-based routing  •  api.js fetch wrapper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39112"/>
            <a:ext cx="112471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0848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   ↕  HTTP / REST API  (JSON)  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9464"/>
            <a:ext cx="11247120" cy="914400"/>
          </a:xfrm>
          <a:prstGeom prst="rect">
            <a:avLst/>
          </a:prstGeom>
          <a:solidFill>
            <a:srgbClr val="0F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61518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⚙️  APPLICATION LAYER (Backend — Spring Boot)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5351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AuthController  •  AccountController  •  TransactionController  •  15 REST Controllers total
Spring Security 6  •  BCrypt  •  CSRF  •  @Transactional  •  Row-level isolation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57016"/>
            <a:ext cx="1124712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0273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   ↕  JDBC / HikariCP  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87368"/>
            <a:ext cx="11247120" cy="914400"/>
          </a:xfrm>
          <a:prstGeom prst="rect">
            <a:avLst/>
          </a:prstGeom>
          <a:solidFill>
            <a:srgbClr val="142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13308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🗃️  DATA LAYER (Oracle XE 10g)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71416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APP_USER  •  CUSTOMER  •  ACCOUNT  •  TRANSACTION  •  LOAN  •  LOAN_PAYMENT  •  CARD  •  BENEFICIARY  •  AUDIT_LOG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🗃️  Database Design — Oracle XE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51560"/>
            <a:ext cx="201168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1051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APP_USER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1247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Authentication &amp; Role management (ADMIN/MANAGER/STAFF/CUSTOMER)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55648"/>
            <a:ext cx="201168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" y="1755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Bank entity (name, code, HQ)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459736"/>
            <a:ext cx="201168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" y="24597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BRANCH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5328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Branch records linked to BANK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163824"/>
            <a:ext cx="201168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82880" y="316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EMPLOYEE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2369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Staff records linked to BRANCH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867912"/>
            <a:ext cx="201168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38679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9410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KYC records (name, DOB, PAN, Aadhar, address)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572000"/>
            <a:ext cx="201168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82880" y="4572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645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Savings / Current accounts with balance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051560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0515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TRANSACTION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1247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Full ledger (Deposit, Withdrawal, Transfer)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755648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75564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LOAN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828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Loan disbursements (type, amount, rate, tenure)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459736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245973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LOAN_PAYMENT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5328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EMI repayment records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163824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31638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23697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Debit / Credit card management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867912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38679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BENEFICIARY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4106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Transfer payees per customer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572000"/>
            <a:ext cx="201168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09360" y="45720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AUDIT_LOG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46451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Security &amp; operation event trail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★  All tables use Oracle SEQUENCES + TRIGGERS for auto-increment primary keys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Backend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☕  Backend — Spring Boot Layered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51560"/>
            <a:ext cx="228600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" y="1143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@RestController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1887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15 controllers handle HTTP requests
Input validation + role enforcement via @PreAuthorize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2103120"/>
            <a:ext cx="2286000" cy="960120"/>
          </a:xfrm>
          <a:prstGeom prst="rect">
            <a:avLst/>
          </a:prstGeom>
          <a:solidFill>
            <a:srgbClr val="0F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2880" y="2194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@Service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2402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Business logic layer with interfaces
@Transactional for atomic financial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0632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</a:rP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154680"/>
            <a:ext cx="2286000" cy="9601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@Repository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2918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JdbcTemplate SQL queries against Oracle XE
ROWNUM pagination · FOR UPDATE locking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148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206240"/>
            <a:ext cx="2286000" cy="960120"/>
          </a:xfrm>
          <a:prstGeom prst="rect">
            <a:avLst/>
          </a:prstGeom>
          <a:solidFill>
            <a:srgbClr val="0F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Oracle XE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3434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Local database on localhost:1521:XE
HikariCP connection pool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20" y="1051560"/>
            <a:ext cx="4846320" cy="4572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1097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15 REST Controllers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1481328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148132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AuthController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1746504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174650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BankController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2011680"/>
            <a:ext cx="10972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201168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BranchController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69480" y="2276856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52360" y="227685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EmployeeController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69480" y="2542032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52360" y="254203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CustomerController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2807208"/>
            <a:ext cx="10972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52360" y="280720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AccountController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3072384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52360" y="307238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TransactionController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3337560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52360" y="333756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LoanController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3602736"/>
            <a:ext cx="10972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452360" y="360273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LoanPaymentController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3867912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452360" y="386791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CardController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69480" y="4133088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452360" y="41330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BeneficiaryController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9480" y="4398264"/>
            <a:ext cx="10972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452360" y="439826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DashboardController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80" y="4663440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452360" y="466344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ReportController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4928616"/>
            <a:ext cx="109728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52360" y="492861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AuditLogController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5193792"/>
            <a:ext cx="10972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452360" y="519379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CsvController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Security &amp; RBAC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🔐  Security &amp; Role-Based Access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51560"/>
            <a:ext cx="2788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051560"/>
            <a:ext cx="2788920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" y="10515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👑 ADMIN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73936"/>
            <a:ext cx="137160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66420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Full system access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432304"/>
            <a:ext cx="137160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322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 management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90672"/>
            <a:ext cx="137160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98094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Reports &amp; audit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749040"/>
            <a:ext cx="137160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39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All CRUD operations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407408"/>
            <a:ext cx="137160" cy="13716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CSV import/export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1051560"/>
            <a:ext cx="2788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54680" y="1051560"/>
            <a:ext cx="2788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80" y="10515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🏢 MANAGER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91840" y="1773936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0440" y="166420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Loan approval/rejection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432304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20440" y="2322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Branch-level operations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3090672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298094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Staff oversight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749040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20440" y="3639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Reports access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407408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20440" y="4297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 management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1051560"/>
            <a:ext cx="2788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👤 STAFF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1773936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40" y="166420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 onboarding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2432304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2322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Account operations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090672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298094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Transactions processing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374904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639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Basic card management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407408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297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Beneficiary management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1051560"/>
            <a:ext cx="27889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9098280" y="1051560"/>
            <a:ext cx="2788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098280" y="1051560"/>
            <a:ext cx="2788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🧑 CUSTOMER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35440" y="1773936"/>
            <a:ext cx="13716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64040" y="1664208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Own accounts only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2432304"/>
            <a:ext cx="13716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64040" y="2322576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Own transactions only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35440" y="3090672"/>
            <a:ext cx="13716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64040" y="2980944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Own loans &amp; payments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3749040"/>
            <a:ext cx="13716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64040" y="363931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Own cards (block only)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35440" y="4407408"/>
            <a:ext cx="13716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64040" y="429768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Own beneficiaries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⚠️  Row-level data isolation enforced server-side via SecurityUtils — CUSTOMER cannot access other customers' data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Login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🔑  Login Page — Dual-Panel Design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43319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869680" y="1371600"/>
            <a:ext cx="31089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0" y="146304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Left Panel:
Form Login
+ BCrypt Auth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0" y="2651760"/>
            <a:ext cx="31089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0" y="274320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Right Panel:
Currency Corner
&amp; Banking Tips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3931920"/>
            <a:ext cx="310896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40233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256-bit SSL
Oracle XE
Protected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Admin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📊  Admin Dashboard — Clickable Stat Cards</a:t>
            </a:r>
          </a:p>
        </p:txBody>
      </p:sp>
      <p:pic>
        <p:nvPicPr>
          <p:cNvPr id="8" name="Picture 7" descr="03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046720" cy="42356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1005840"/>
            <a:ext cx="347472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✨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572768"/>
            <a:ext cx="16459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 real-time stat cards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212848"/>
            <a:ext cx="16459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Each card clickable → module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16459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Deposits Inflow / Outflow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493008"/>
            <a:ext cx="16459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3383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Recent Transactions table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133088"/>
            <a:ext cx="16459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40233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Quick Actions panel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4773168"/>
            <a:ext cx="16459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60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Refresh Data button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5413248"/>
            <a:ext cx="164592" cy="16459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23960" y="5303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Data from Oracle XE REST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Customers &amp; Accounts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👥  Customers &amp; Accounts Modules</a:t>
            </a:r>
          </a:p>
        </p:txBody>
      </p:sp>
      <p:pic>
        <p:nvPicPr>
          <p:cNvPr id="8" name="Picture 7" descr="04_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3032343"/>
          </a:xfrm>
          <a:prstGeom prst="rect">
            <a:avLst/>
          </a:prstGeom>
        </p:spPr>
      </p:pic>
      <p:pic>
        <p:nvPicPr>
          <p:cNvPr id="9" name="Picture 8" descr="05_ac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30323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6035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Customers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6035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Accounts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💰  Transactions Module — Deposit · Withdraw · Transfer</a:t>
            </a:r>
          </a:p>
        </p:txBody>
      </p:sp>
      <p:pic>
        <p:nvPicPr>
          <p:cNvPr id="8" name="Picture 7" descr="06_trans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046720" cy="423565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503920" y="1005840"/>
            <a:ext cx="347472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🔒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1572768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14630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Tabbed: Deposit | Withdraw | Transfer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2212848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23960" y="21031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Server-side balance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95360" y="2852928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23960" y="2743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Pessimistic locking (FOR UPDATE)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0" y="3493008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338328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Balance never calculated client-side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95360" y="4133088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23960" y="40233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Full transaction ledger 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4773168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23960" y="46634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Search + pagination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5413248"/>
            <a:ext cx="164592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23960" y="53035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CSV export with injection 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Loans &amp; Payments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📑  Loans &amp; Loan Payments Modules</a:t>
            </a:r>
          </a:p>
        </p:txBody>
      </p:sp>
      <p:pic>
        <p:nvPicPr>
          <p:cNvPr id="8" name="Picture 7" descr="07_lo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3032343"/>
          </a:xfrm>
          <a:prstGeom prst="rect">
            <a:avLst/>
          </a:prstGeom>
        </p:spPr>
      </p:pic>
      <p:pic>
        <p:nvPicPr>
          <p:cNvPr id="9" name="Picture 8" descr="08_loan_pay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30323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6035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Loans — Apply, Approve/Reject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6035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Loan Payments — EMI recording &amp; outstanding balance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Cards, Beneficiaries &amp; Calendar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💳  Cards · Beneficiaries · Banking Calendar</a:t>
            </a:r>
          </a:p>
        </p:txBody>
      </p:sp>
      <p:pic>
        <p:nvPicPr>
          <p:cNvPr id="8" name="Picture 7" descr="09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3886200" cy="2045628"/>
          </a:xfrm>
          <a:prstGeom prst="rect">
            <a:avLst/>
          </a:prstGeom>
        </p:spPr>
      </p:pic>
      <p:pic>
        <p:nvPicPr>
          <p:cNvPr id="9" name="Picture 8" descr="10_beneficia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886200" cy="2045628"/>
          </a:xfrm>
          <a:prstGeom prst="rect">
            <a:avLst/>
          </a:prstGeom>
        </p:spPr>
      </p:pic>
      <p:pic>
        <p:nvPicPr>
          <p:cNvPr id="10" name="Picture 9" descr="13_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005840"/>
            <a:ext cx="3886200" cy="20456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" y="60350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Cards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Beneficiaries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60350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Banking Calendar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Reports &amp; Audit Logs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📈  Reports &amp; Audit Logs</a:t>
            </a:r>
          </a:p>
        </p:txBody>
      </p:sp>
      <p:pic>
        <p:nvPicPr>
          <p:cNvPr id="8" name="Picture 7" descr="12_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5760720" cy="3032343"/>
          </a:xfrm>
          <a:prstGeom prst="rect">
            <a:avLst/>
          </a:prstGeom>
        </p:spPr>
      </p:pic>
      <p:pic>
        <p:nvPicPr>
          <p:cNvPr id="9" name="Picture 8" descr="11_audit_l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05840"/>
            <a:ext cx="5760720" cy="30323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" y="6035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Reports — Filtered CSV export (7 filters)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603504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Audit Logs — Full event trail + CSV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⚙️  Settings — Profile &amp; Password Management</a:t>
            </a:r>
          </a:p>
        </p:txBody>
      </p:sp>
      <p:pic>
        <p:nvPicPr>
          <p:cNvPr id="8" name="Picture 7" descr="14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05840"/>
            <a:ext cx="8229600" cy="433191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Customer Self-Service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🧑  Customer Self-Service Portal — New 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51560"/>
            <a:ext cx="1179576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097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🆕 New CUSTOMER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14300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Added CUSTOMER as a 4th role in APP_USER. Linked to CUSTOMER table via CUSTOMER_ID foreign key.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911096"/>
            <a:ext cx="11795760" cy="804672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95681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🔐 Row-Level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02536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SecurityUtils.validateAccountAccess() and validateLoanAccess() enforce that customers can ONLY see their own data, never others'.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770632"/>
            <a:ext cx="1179576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28163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🖥️ Custom Sidebar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62072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applyCustomerRoleUI() hides admin-only nav items. Customer sees: My Accounts, My Transactions, My Loans, My Cards, Beneficiaries, Settings.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630168"/>
            <a:ext cx="11795760" cy="804672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6758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💳 Own Transactions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721608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 can deposit, withdraw, and transfer from their own accounts. Backend validates account ownership before processing.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4489704"/>
            <a:ext cx="11795760" cy="8046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53542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🏦 Own Loans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581144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 can apply for new loans and see only their own loans and payments.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5349240"/>
            <a:ext cx="11795760" cy="804672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3949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👤 Sample Logins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440680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arjun.kumar / customer123  ·  sunita.patel / customer123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Screenshot — Customer Portal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🧑  Customer Portal — Logged in as arjun.kumar</a:t>
            </a:r>
          </a:p>
        </p:txBody>
      </p:sp>
      <p:pic>
        <p:nvPicPr>
          <p:cNvPr id="8" name="Picture 7" descr="18_customer_por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05840"/>
            <a:ext cx="3886200" cy="2045628"/>
          </a:xfrm>
          <a:prstGeom prst="rect">
            <a:avLst/>
          </a:prstGeom>
        </p:spPr>
      </p:pic>
      <p:pic>
        <p:nvPicPr>
          <p:cNvPr id="9" name="Picture 8" descr="05_ac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3886200" cy="2045628"/>
          </a:xfrm>
          <a:prstGeom prst="rect">
            <a:avLst/>
          </a:prstGeom>
        </p:spPr>
      </p:pic>
      <p:pic>
        <p:nvPicPr>
          <p:cNvPr id="10" name="Picture 9" descr="06_transac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005840"/>
            <a:ext cx="3886200" cy="20456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7160" y="60350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Customer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0350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My Accounts (own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6035040"/>
            <a:ext cx="3886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My Transactions (own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36576"/>
            <a:ext cx="7315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🏦  BAMS — Bank Account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6576"/>
            <a:ext cx="2743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Backend → Frontend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11480"/>
            <a:ext cx="12188952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43891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</a:rPr>
              <a:t>🔄  Backend → Frontend Integration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11795760" cy="6126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11887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1.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1887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 navigates to http://localhost:8081 — loads index.html SPA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1746504"/>
            <a:ext cx="11795760" cy="612648"/>
          </a:xfrm>
          <a:prstGeom prst="rect">
            <a:avLst/>
          </a:prstGeom>
          <a:solidFill>
            <a:srgbClr val="0F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18379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2. Spring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83794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Authentication + Role check → 401/403 for unauthorized requests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" y="2395728"/>
            <a:ext cx="11795760" cy="612648"/>
          </a:xfrm>
          <a:prstGeom prst="rect">
            <a:avLst/>
          </a:prstGeom>
          <a:solidFill>
            <a:srgbClr val="0C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4320" y="2487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3. @RestController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8716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Input validation, @PreAuthorize role guard, delegates to service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" y="3044952"/>
            <a:ext cx="11795760" cy="612648"/>
          </a:xfrm>
          <a:prstGeom prst="rect">
            <a:avLst/>
          </a:prstGeom>
          <a:solidFill>
            <a:srgbClr val="0723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74320" y="31363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4. @Service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13639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@Transactional business logic — atomic operations, locking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3694176"/>
            <a:ext cx="11795760" cy="612648"/>
          </a:xfrm>
          <a:prstGeom prst="rect">
            <a:avLst/>
          </a:prstGeom>
          <a:solidFill>
            <a:srgbClr val="05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37856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5. @Repository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78561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JdbcTemplate SQL → Oracle XE — ROWNUM pagination, FOR UPDATE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4343400"/>
            <a:ext cx="11795760" cy="612648"/>
          </a:xfrm>
          <a:prstGeom prst="rect">
            <a:avLst/>
          </a:prstGeom>
          <a:solidFill>
            <a:srgbClr val="03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4434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6. Oracle XE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44348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Sequences/Triggers → INSERT/UPDATE/SELECT with constraints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4992624"/>
            <a:ext cx="11795760" cy="612648"/>
          </a:xfrm>
          <a:prstGeom prst="rect">
            <a:avLst/>
          </a:prstGeom>
          <a:solidFill>
            <a:srgbClr val="0F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50840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7. JSON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508406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ApiResponse&lt;T&gt;{ success, message, data } returned to 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5641848"/>
            <a:ext cx="11795760" cy="6126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4320" y="573328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8. Frontend 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57332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api.js fetch → module renders HTML table/form with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</a:rPr>
              <a:t>🏁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</a:rPr>
              <a:t>The Bank Account Management System (BAMS) is a production-grade, fully offline Core Banking Application demonstrating real-world enterprise software engineering.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874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12 Database Entities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12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Oracle XE with sequences, triggers &amp; constraints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5486400" cy="777240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788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15 REST Controllers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60+ API endpoints with role-based access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4-Role 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41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ADMIN · MANAGER · STAFF · CUSTOMER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72000"/>
            <a:ext cx="5486400" cy="777240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4617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14 Frontend Modules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56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Fully offline SPA — no CDN, no frameworks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8745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Financial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12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Atomic JDBC transactions + pessimistic locking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743200"/>
            <a:ext cx="5486400" cy="777240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788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1272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BCrypt, CSRF, Spring Security 6, Audit logging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657600"/>
            <a:ext cx="5486400" cy="7772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Customer Portal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416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Row-level data isolation for self-service customers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572000"/>
            <a:ext cx="5486400" cy="777240"/>
          </a:xfrm>
          <a:prstGeom prst="rect">
            <a:avLst/>
          </a:prstGeom>
          <a:solidFill>
            <a:srgbClr val="15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617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✅ Reports &amp; Export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9560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Filtered reports with CSV download + injection guard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</a:rPr>
              <a:t>Thank You! 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1619</Words>
  <Application>Microsoft Office PowerPoint</Application>
  <PresentationFormat>Custom</PresentationFormat>
  <Paragraphs>325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Jayadeepak Kancharla</cp:lastModifiedBy>
  <cp:revision>1</cp:revision>
  <dcterms:created xsi:type="dcterms:W3CDTF">2013-01-27T09:14:16Z</dcterms:created>
  <dcterms:modified xsi:type="dcterms:W3CDTF">2026-10-04T08:20:12Z</dcterms:modified>
  <cp:category/>
</cp:coreProperties>
</file>